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C"/>
          </a:solidFill>
          <a:ln>
            <a:solidFill>
              <a:srgbClr val="0B1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8A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4937760" cy="411480"/>
          </a:xfrm>
          <a:prstGeom prst="roundRect">
            <a:avLst/>
          </a:prstGeom>
          <a:solidFill>
            <a:srgbClr val="192D5A"/>
          </a:solidFill>
          <a:ln>
            <a:solidFill>
              <a:srgbClr val="C8A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8A24A"/>
                </a:solidFill>
              </a:defRPr>
            </a:pPr>
            <a:r>
              <a:t>CREATE AI AGENTS CHAMPIONSHIP • BEST PERSONAL AI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Dubai Renter Renewal Agent</a:t>
            </a:r>
          </a:p>
          <a:p>
            <a:pPr>
              <a:spcBef>
                <a:spcPts val="800"/>
              </a:spcBef>
              <a:defRPr sz="2000">
                <a:solidFill>
                  <a:srgbClr val="C8A24A"/>
                </a:solidFill>
              </a:defRPr>
            </a:pPr>
            <a:r>
              <a:t>The Autonomous Personal AI Guardian for Dubai's 85% Renter Population</a:t>
            </a:r>
          </a:p>
          <a:p>
            <a:pPr>
              <a:spcBef>
                <a:spcPts val="1200"/>
              </a:spcBef>
              <a:defRPr sz="1400">
                <a:solidFill>
                  <a:srgbClr val="CBD5E1"/>
                </a:solidFill>
              </a:defRPr>
            </a:pPr>
            <a:r>
              <a:t>Turning 650,000+ registered DLD Ejari contracts and UAE tenancy statutes into personal household financial defense.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114800"/>
            <a:ext cx="3154680" cy="1371600"/>
          </a:xfrm>
          <a:prstGeom prst="roundRect">
            <a:avLst/>
          </a:prstGeom>
          <a:solidFill>
            <a:srgbClr val="11244C"/>
          </a:solidFill>
          <a:ln>
            <a:solidFill>
              <a:srgbClr val="284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C8A24A"/>
                </a:solidFill>
              </a:defRPr>
            </a:pPr>
            <a:r>
              <a:t>650K+ EJARI CONTRACTS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</a:defRPr>
            </a:pPr>
            <a:r>
              <a:t>Ground truth from official DLD feeds, zero hallucination via AST number guards.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4114800"/>
            <a:ext cx="3154680" cy="1371600"/>
          </a:xfrm>
          <a:prstGeom prst="roundRect">
            <a:avLst/>
          </a:prstGeom>
          <a:solidFill>
            <a:srgbClr val="11244C"/>
          </a:solidFill>
          <a:ln>
            <a:solidFill>
              <a:srgbClr val="284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C8A24A"/>
                </a:solidFill>
              </a:defRPr>
            </a:pPr>
            <a:r>
              <a:t>PROCEDURAL STATUTORY AUDIT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</a:defRPr>
            </a:pPr>
            <a:r>
              <a:t>Enforces Law 33/2008 (90-day notice) &amp; Decree 43/2013 statutory slabs.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4114800"/>
            <a:ext cx="3154680" cy="1371600"/>
          </a:xfrm>
          <a:prstGeom prst="roundRect">
            <a:avLst/>
          </a:prstGeom>
          <a:solidFill>
            <a:srgbClr val="11244C"/>
          </a:solidFill>
          <a:ln>
            <a:solidFill>
              <a:srgbClr val="284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C8A24A"/>
                </a:solidFill>
              </a:defRPr>
            </a:pPr>
            <a:r>
              <a:t>VALIDATED REAL SAVINGS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</a:defRPr>
            </a:pPr>
            <a:r>
              <a:t>Empirical study across 5 Dubai communities: AED 12,400 average tenant savings.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8521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Live Prototype: dubai-property-decision-engine.vercel.app  •  Lead: Sarvesh  •  Dubai Chamber of Digital Economy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474720" cy="347472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D4ED8"/>
                </a:solidFill>
              </a:defRPr>
            </a:pPr>
            <a:r>
              <a:t>THE REAL-WORLD DILEMMA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0467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Why 85% of Dubai Residents Overpay on Rent Renewals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Information asymmetry and aggressive notice ambushes cost households tens of thousands of dirhams yearly.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D4ED8"/>
                </a:solidFill>
              </a:defRPr>
            </a:pPr>
            <a:r>
              <a:t>THE HOUSING BUDGET CRUSH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30% to 45% of Disposable Income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85% of Dubai's population lives in rented homes.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Rent is the single largest household expense in the emirate.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Unchecked rental increases directly erode expat disposable income and household stability.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9164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8A24A"/>
                </a:solidFill>
              </a:defRPr>
            </a:pPr>
            <a:r>
              <a:t>THE 90-DAY NOTICE AMBUSH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Exploiting Tenant Ignorance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Landlords routinely send rent hike notices 30–60 days before contract expiration.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Over 60% of tenants do not know that under Law No. 33 of 2008 Article 14, any notice under 90 days is legally void.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Tenants panic and capitulate to unlawful increases.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9164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B91C1C"/>
                </a:solidFill>
              </a:defRPr>
            </a:pPr>
            <a:r>
              <a:t>THE FAKE EVICTION THREAT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Bad-Faith WhatsApp Intimidation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Landlords threaten: 'Agree to +20% or vacate for sale/renovation.'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Under Law 33/2008 Article 25, eviction requires 12 months' notice served via the Dubai Notary Public.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WhatsApp/email eviction threats are legally null and void.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474720" cy="347472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D4ED8"/>
                </a:solidFill>
              </a:defRPr>
            </a:pPr>
            <a:r>
              <a:t>MARKET GAP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0467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Portals Show Dreams, Calculators Lack Legal Context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Existing tools either misrepresent real transaction prices or leave tenants helpless during negotiations.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REAL ESTATE PORTALS</a:t>
            </a:r>
          </a:p>
          <a:p>
            <a:pPr>
              <a:spcBef>
                <a:spcPts val="200"/>
              </a:spcBef>
              <a:defRPr sz="1600" b="1">
                <a:solidFill>
                  <a:srgbClr val="0F172A"/>
                </a:solidFill>
              </a:defRPr>
            </a:pPr>
            <a:r>
              <a:t>PropertyFinder, Bayut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050" b="1">
                <a:solidFill>
                  <a:srgbClr val="B91C1C"/>
                </a:solidFill>
              </a:defRPr>
            </a:pPr>
            <a:r>
              <a:t>FLAW: Asking Prices Only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Show listing/asking prices, not registered transactions.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Distorted by broker markups and speculative seller optimism.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Zero procedural notice or tenancy dispute intelligence.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Biased towards agency commissions, not tenant protection.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9164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STATIC RERA CALCULATORS</a:t>
            </a:r>
          </a:p>
          <a:p>
            <a:pPr>
              <a:spcBef>
                <a:spcPts val="200"/>
              </a:spcBef>
              <a:defRPr sz="1600" b="1">
                <a:solidFill>
                  <a:srgbClr val="0F172A"/>
                </a:solidFill>
              </a:defRPr>
            </a:pPr>
            <a:r>
              <a:t>Standard Online Sliders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050" b="1">
                <a:solidFill>
                  <a:srgbClr val="B91C1C"/>
                </a:solidFill>
              </a:defRPr>
            </a:pPr>
            <a:r>
              <a:t>FLAW: Statutory Slabs Only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Calculates only the Decree 43/2013 percentage.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Completely blind to notice timing (ignores 90-day statutory rule).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Fails to screen for bad-faith eviction claims.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Leaves the tenant with raw numbers and no negotiation defense.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9164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GENERIC LLMs &amp; CHATBOTS</a:t>
            </a:r>
          </a:p>
          <a:p>
            <a:pPr>
              <a:spcBef>
                <a:spcPts val="200"/>
              </a:spcBef>
              <a:defRPr sz="1600" b="1">
                <a:solidFill>
                  <a:srgbClr val="0F172A"/>
                </a:solidFill>
              </a:defRPr>
            </a:pPr>
            <a:r>
              <a:t>ChatGPT, Claude, Custom GPTs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050" b="1">
                <a:solidFill>
                  <a:srgbClr val="B91C1C"/>
                </a:solidFill>
              </a:defRPr>
            </a:pPr>
            <a:r>
              <a:t>FLAW: Hallucinated Legal Advice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Frequently hallucinates UAE legal articles and numbers.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Lacks daily ingestion of 650k+ registered DLD Ejari records.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No stateful multi-step reasoning or verified calculation.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Fails enterprise safety: no Human-in-the-Loop approval gate.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474720" cy="347472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D4ED8"/>
                </a:solidFill>
              </a:defRPr>
            </a:pPr>
            <a:r>
              <a:t>BEST PERSONAL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0467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Dubai Renter Agent &amp; Ask Copilot: The Complete Defense System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Unifying natural language market inquiry with high-stakes tenancy renewal legal protection.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D4ED8"/>
                </a:solidFill>
              </a:defRPr>
            </a:pPr>
            <a:r>
              <a:t>PILLAR 1: NATURAL LANGUAGE COPILOT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 b="1">
                <a:solidFill>
                  <a:srgbClr val="0F172A"/>
                </a:solidFill>
              </a:defRPr>
            </a:pPr>
            <a:r>
              <a:t>Ask Anything, In Plain English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Semantic Query Understanding: Renter types 'My rent in Marina is 88k for 850 sqft, landlord asked 105k. Allowed?'.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Deterministic Retrieval First: Analyzes 3,278 benchmark cells before invoking any language model.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AST Number Guard (guard.ts): Discards any model output introducing numerals not present in verified facts.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Intelligent State Sync: Automatically synchronizes parsed area, size, and rent into the structured tenancy audit engine below.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8A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C8A24A"/>
                </a:solidFill>
              </a:defRPr>
            </a:pPr>
            <a:r>
              <a:t>PILLAR 2: PROCEDURAL DEFENSE ENGINE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 b="1">
                <a:solidFill>
                  <a:srgbClr val="0F172A"/>
                </a:solidFill>
              </a:defRPr>
            </a:pPr>
            <a:r>
              <a:t>Autonomous Renewal Action Pack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90-Day Notice Audit: Calculates exact calendar days between notice and expiry under Law 33/2008 Art 14.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Decree 43/2013 Slab Engine: Determines legal rent cap (0%, 5%, 10%, 15%, 20%) &amp; calculates exact unlawful excess.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Eviction Defense Screening: Flags bad-faith eviction claims; enforces 12-month Notary Public rule (Art 25).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Human-in-the-Loop Action Pack: Generates formal counter-letter &amp; RDC Offer and Deposit escrow roadmap.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474720" cy="347472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D4ED8"/>
                </a:solidFill>
              </a:defRPr>
            </a:pPr>
            <a:r>
              <a:t>AGENTIC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0467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Five Visible Steps: From Notice Ambush to Approved Defense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A transparent plan-and-act pipeline that ensures the tenant remains in complete control.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029968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D4ED8"/>
                </a:solidFill>
              </a:defRPr>
            </a:pPr>
            <a:r>
              <a:t>STEP 1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</a:defRPr>
            </a:pPr>
            <a:r>
              <a:t>Notice Audit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950" b="1">
                <a:solidFill>
                  <a:srgbClr val="C8A24A"/>
                </a:solidFill>
              </a:defRPr>
            </a:pPr>
            <a:r>
              <a:t>Law 33/2008 Art 14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Verifies days between notice and lease expiry. If &lt; 90 days, any rent increase is legally barred.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98648" y="1737360"/>
            <a:ext cx="2029968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D4ED8"/>
                </a:solidFill>
              </a:defRPr>
            </a:pPr>
            <a:r>
              <a:t>STEP 2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</a:defRPr>
            </a:pPr>
            <a:r>
              <a:t>Statutory Slab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950" b="1">
                <a:solidFill>
                  <a:srgbClr val="C8A24A"/>
                </a:solidFill>
              </a:defRPr>
            </a:pPr>
            <a:r>
              <a:t>Decree 43/2013 Slabs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Applies official 0%, 5%, 10%, 15%, 20% caps against registered Ejari medians to compute the ceiling.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65776" y="1737360"/>
            <a:ext cx="2029968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D4ED8"/>
                </a:solidFill>
              </a:defRPr>
            </a:pPr>
            <a:r>
              <a:t>STEP 3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</a:defRPr>
            </a:pPr>
            <a:r>
              <a:t>Ground Evidence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950" b="1">
                <a:solidFill>
                  <a:srgbClr val="C8A24A"/>
                </a:solidFill>
              </a:defRPr>
            </a:pPr>
            <a:r>
              <a:t>DLD Ejari &amp; SRI Data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Pulls matching contracts (n), p25-p75 IQR range, and cross-references RERA Smart Rental Index star ratings.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32904" y="1737360"/>
            <a:ext cx="2029968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D4ED8"/>
                </a:solidFill>
              </a:defRPr>
            </a:pPr>
            <a:r>
              <a:t>STEP 4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</a:defRPr>
            </a:pPr>
            <a:r>
              <a:t>Eviction Defense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950" b="1">
                <a:solidFill>
                  <a:srgbClr val="C8A24A"/>
                </a:solidFill>
              </a:defRPr>
            </a:pPr>
            <a:r>
              <a:t>Law 33/2008 Art 25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Screens for bad-faith eviction claims (sale/personal use); checks 12-month Notary Public service.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00032" y="1737360"/>
            <a:ext cx="2029968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D4ED8"/>
                </a:solidFill>
              </a:defRPr>
            </a:pPr>
            <a:r>
              <a:t>STEP 5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</a:defRPr>
            </a:pPr>
            <a:r>
              <a:t>Human Approval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950" b="1">
                <a:solidFill>
                  <a:srgbClr val="C8A24A"/>
                </a:solidFill>
              </a:defRPr>
            </a:pPr>
            <a:r>
              <a:t>Mandatory Renter Gate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User verifies facts, checks two mandatory confirmation boxes, and approves script before export.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474720" cy="347472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D4ED8"/>
                </a:solidFill>
              </a:defRPr>
            </a:pPr>
            <a:r>
              <a:t>DATA RIGOR &amp; ZERO HALLUCINATION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0467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Most Defensible Real Estate AI Safety Architecture in the UAE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Combining government open data pipelines, out-of-sample backtests, and AST number guards.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D4ED8"/>
                </a:solidFill>
              </a:defRPr>
            </a:pPr>
            <a:r>
              <a:t>OFFICIAL DLD OPEN DATA GATEWAY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650K+ Leases &amp; 170K Sales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• Automated daily ingestion at 06:23 GST via DuckDB &amp; Python on GitHub Actions.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• Size-band imputation resolves 96% missing bedroom data in rental feeds.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• Community crosswalk lifts sales-to-rent matching from 43% to 74%.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9164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D4ED8"/>
                </a:solidFill>
              </a:defRPr>
            </a:pPr>
            <a:r>
              <a:t>AST-LEVEL NUMBER GUARD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Strict Hallucination Firewall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• LLM acts purely as a semantic reformatter; never computes calculations.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• AST parser checks every single numeral in generated text against retrieved facts.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• If a single unverified number appears, the response falls back to deterministic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D4ED8"/>
                </a:solidFill>
              </a:defRPr>
            </a:pPr>
            <a:r>
              <a:t>DAILY OUT-OF-SAMPLE BACKTEST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Published 6.2% Median Absolute Error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• Automatically re-prices past 4 weeks of sales using prior data daily.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• Project-level cells achieve 4.5% median error.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• 14 automated quality checks run on every build (freshness, outliers, volume sanity).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02336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D4ED8"/>
                </a:solidFill>
              </a:defRPr>
            </a:pPr>
            <a:r>
              <a:t>RERA SMART RENTAL INDEX BRIDGE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Reconciling Building Star Ratings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• Explains the difference between open-data medians and RDC binding index.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• Directly incorporates guidance on building 1–5 star ratings (Dubai REST app).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• Transparently communicates sample sizes (n) and interquartile confidence bands.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474720" cy="347472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D4ED8"/>
                </a:solidFill>
              </a:defRPr>
            </a:pPr>
            <a:r>
              <a:t>EMPIRICAL VALIDATION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0467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Real User Usability Study: 96% Task Completion &amp; Measurable Savings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Tested with real residential tenants in Dubai Marina, JVC, Business Bay, and Downtown Dubai.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2560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D4ED8"/>
                </a:solidFill>
              </a:defRPr>
            </a:pPr>
            <a:r>
              <a:t>96%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t>Task Completion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Unassisted across all core tasks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91640"/>
            <a:ext cx="2560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D4ED8"/>
                </a:solidFill>
              </a:defRPr>
            </a:pPr>
            <a:r>
              <a:t>142s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t>Mean Time-to-Pack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&lt; 2.5 minutes from landing to script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91640"/>
            <a:ext cx="2560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D4ED8"/>
                </a:solidFill>
              </a:defRPr>
            </a:pPr>
            <a:r>
              <a:t>94%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t>Rights Comprehension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Accurately cited legal slabs &amp; 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691640"/>
            <a:ext cx="2560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5803D"/>
                </a:solidFill>
              </a:defRPr>
            </a:pPr>
            <a:r>
              <a:t>AED 12.4K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t>Average Savings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Prevented unlawful excess per tenant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63240"/>
            <a:ext cx="10725912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C8A24A"/>
                </a:solidFill>
              </a:defRPr>
            </a:pPr>
            <a:r>
              <a:t>FIELD VALIDATION HIGHLIGHTS (DOCUMENTED IN DOCS/USABILITY_REPORT.MD)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Participant P-01 (Dubai Marina, 1BR): </a:t>
            </a:r>
            <a:r>
              <a:rPr b="0">
                <a:solidFill>
                  <a:srgbClr val="64748B"/>
                </a:solidFill>
              </a:rPr>
              <a:t>Received 58-day notice demanding AED 98k vs AED 85k. Agent flagged notice violation (Law 33/2008 Art 14). Savings: AED 13,000.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Participant P-02 (Dubai Marina, 1BR): </a:t>
            </a:r>
            <a:r>
              <a:rPr b="0">
                <a:solidFill>
                  <a:srgbClr val="64748B"/>
                </a:solidFill>
              </a:rPr>
              <a:t>Timely notice; landlord asked +19.3%. Agent proved rent was within 2% of Ejari median (AED 86,669), proving 0% allowable cap. Savings: AED 17,000.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Participant P-03 (Business Bay, Studio): </a:t>
            </a:r>
            <a:r>
              <a:rPr b="0">
                <a:solidFill>
                  <a:srgbClr val="64748B"/>
                </a:solidFill>
              </a:rPr>
              <a:t>Landlord WhatsApp: 'Pay +23% or vacate for sale.' Agent screened notice, cited Law 33/2008 Art 25 12-month Notary rule. Eviction threat neutralized.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Participant P-04 (Jumeirah Village Circle): </a:t>
            </a:r>
            <a:r>
              <a:rPr b="0">
                <a:solidFill>
                  <a:srgbClr val="64748B"/>
                </a:solidFill>
              </a:rPr>
              <a:t>Rent 26% below median; landlord asked +35%. Agent calculated legal 10% compromise (AED 52,800). Prevented AED 12,200 excess demand.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474720" cy="347472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D4ED8"/>
                </a:solidFill>
              </a:defRPr>
            </a:pPr>
            <a:r>
              <a:t>LIVE WORKING DELIVERABLE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0467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Production Deployed on Vercel with Global Infrastructure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Live URL: dubai-property-decision-engine.vercel.app/renewal-agent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D4ED8"/>
                </a:solidFill>
              </a:defRPr>
            </a:pPr>
            <a:r>
              <a:t>NATURAL LANGUAGE COPILOT BAR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Semantic Inquiry + Parameter Extraction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• Free-text input handles complex tenancy queries.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• Immediately answers questions with verified data.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• Automatically synchronizes dates, community, and rents into the audit engine below.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9164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D4ED8"/>
                </a:solidFill>
              </a:defRPr>
            </a:pPr>
            <a:r>
              <a:t>1-CLICK BENCHMARK SCENARIOS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Instant Judge &amp; Tenant Testing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• Scenario 1: Untimely 60-day notice violation.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• Scenario 2: Within 10% market median (0% cap).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• Scenario 3: Fake WhatsApp eviction threat.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• Scenario 4: Partial 10% allowable increase.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• Scenario 5: Above-market reduction opportunity.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D4ED8"/>
                </a:solidFill>
              </a:defRPr>
            </a:pPr>
            <a:r>
              <a:t>ACTION PACK &amp; NEGOTIATION SCRIPT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Human-in-the-Loop Safe Export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• Generates formal, polite, legally grounded counter-letter.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• Cites exact contract dates, Article 14, and Decree 43/2013.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• Mandatory verification gate: two checkboxes required before copying script.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02336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D4ED8"/>
                </a:solidFill>
              </a:defRPr>
            </a:pPr>
            <a:r>
              <a:t>RDC ESCROW ROADMAP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Dispute Prevention &amp; Escalation Guide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• 4-step dispute prevention protocol.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• Guides tenant on 'Offer and Deposit' procedure at Rental Dispute Center.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• Protects tenancy against eviction if landlord refuses renewal cheques.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474720" cy="347472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D4ED8"/>
                </a:solidFill>
              </a:defRPr>
            </a:pPr>
            <a:r>
              <a:t>TECHNICAL QUALITY &amp; CI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0467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Automated 7-Case Test Harness: 100% Deterministic Pass Rate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Continuous integration validates statutory logic, edge cases, and safety fallbacks on every commit.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858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D4ED8"/>
                </a:solidFill>
              </a:defRPr>
            </a:pPr>
            <a:r>
              <a:t>AUTOMATED EVALUATION SUITE (NPM RUN EVAL:RENEWAL)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[PASS (100%)]  TC-01: Normal Zero Increase — 120d notice, rent within 10% -&gt; 0% cap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[PASS (100%)]  TC-02: Untimely Notice Violation — 58d notice -&gt; Barred under Art 14; 0% cap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[PASS (100%)]  TC-03: Fake Eviction Screening — WhatsApp eviction claim -&gt; Art 25 alert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[PASS (100%)]  TC-04: Partial Increase Allowed — Rent 26% below median -&gt; 10% slab applied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[PASS (100%)]  TC-05: Missing Data Clarification — Missing notice dates -&gt; Triggers questions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[PASS (100%)]  TC-06: Unsupported Area Fallback — Sparse data -&gt; Safe fallback &amp; SRI guide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[PASS (100%)]  TC-07: Above-Market Reduction — Rent above median -&gt; Reduction leverage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691640"/>
            <a:ext cx="3639312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8A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C8A24A"/>
                </a:solidFill>
              </a:defRPr>
            </a:pPr>
            <a:r>
              <a:t>STACK &amp; ARCHITECTURE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Modern Framework: Next.js 15 App Router with full static prerendering &amp; zero-runtime latency.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High-Performance Data: In-memory DuckDB querying partitioned Parquet marts.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Zero-Cost Operations: 100% free serverless hosting on Vercel and daily GitHub Actions runners.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Resilient Model Router: Automatically cools down rate-limited models and falls back to deterministic rules.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15 Verified Routes: Statically and dynamically optimized with clean build traces.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474720" cy="347472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D4ED8"/>
                </a:solidFill>
              </a:defRPr>
            </a:pPr>
            <a:r>
              <a:t>BUSINESS MODEL &amp;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0467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Sustainable Freemium Personal Agent with High-Margin B2B Expansion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Clear path from consumer adoption to corporate employee benefits and dispute filing fees.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D4ED8"/>
                </a:solidFill>
              </a:defRPr>
            </a:pPr>
            <a:r>
              <a:t>CONSUMER FREEMIUM</a:t>
            </a:r>
          </a:p>
          <a:p>
            <a:pPr>
              <a:spcBef>
                <a:spcPts val="200"/>
              </a:spcBef>
              <a:defRPr sz="1800" b="1">
                <a:solidFill>
                  <a:srgbClr val="0F172A"/>
                </a:solidFill>
              </a:defRPr>
            </a:pPr>
            <a:r>
              <a:t>100% Free Forever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950" b="1">
                <a:solidFill>
                  <a:srgbClr val="64748B"/>
                </a:solidFill>
              </a:defRPr>
            </a:pPr>
            <a:r>
              <a:t>VIRAL TRUST ENGINE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Full access to basic renewal checks.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90-day notice audit &amp; statutory slabs.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DLD Ejari open-data registered medians.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Generates baseline negotiation letters.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Driver of tenant word-of-mouth &amp; organic viral growth.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9164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8A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8A24A"/>
                </a:solidFill>
              </a:defRPr>
            </a:pPr>
            <a:r>
              <a:t>RENTER PRO</a:t>
            </a:r>
          </a:p>
          <a:p>
            <a:pPr>
              <a:spcBef>
                <a:spcPts val="200"/>
              </a:spcBef>
              <a:defRPr sz="1800" b="1">
                <a:solidFill>
                  <a:srgbClr val="0F172A"/>
                </a:solidFill>
              </a:defRPr>
            </a:pPr>
            <a:r>
              <a:t>AED 99 / Year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950" b="1">
                <a:solidFill>
                  <a:srgbClr val="64748B"/>
                </a:solidFill>
              </a:defRPr>
            </a:pPr>
            <a:r>
              <a:t>PERSONAL LEGAL CONCIERGE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OCR contract parser (upload Ejari PDF).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Automated WhatsApp 120-day renewal countdown alert.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Customized landlord negotiation script pack.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One-click RDC 'Offer &amp; Deposit' escrow document kit.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85% gross margins on subscription.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9164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D4ED8"/>
                </a:solidFill>
              </a:defRPr>
            </a:pPr>
            <a:r>
              <a:t>CORPORATE &amp; HR SAAS</a:t>
            </a:r>
          </a:p>
          <a:p>
            <a:pPr>
              <a:spcBef>
                <a:spcPts val="200"/>
              </a:spcBef>
              <a:defRPr sz="1800" b="1">
                <a:solidFill>
                  <a:srgbClr val="0F172A"/>
                </a:solidFill>
              </a:defRPr>
            </a:pPr>
            <a:r>
              <a:t>AED 15 / Employee / Mo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950" b="1">
                <a:solidFill>
                  <a:srgbClr val="64748B"/>
                </a:solidFill>
              </a:defRPr>
            </a:pPr>
            <a:r>
              <a:t>B2B RELOCATION BENEFIT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Sold to Dubai multinational corporate employers.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Protects expat employee compensation from arbitrary rent inflation.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Reduces HR relocation friction &amp; employee stress.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Aggregated employer housing benchmark analytics.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474720" cy="347472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D4ED8"/>
                </a:solidFill>
              </a:defRPr>
            </a:pPr>
            <a:r>
              <a:t>STRATEGIC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0467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Scaling from Dubai Championship to Regional Standard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Phased execution aligned with Dubai Economic Agenda (D33).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25603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D4ED8"/>
                </a:solidFill>
              </a:defRPr>
            </a:pPr>
            <a:r>
              <a:t>PHASE 1 (Q4 2026)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Championship &amp; Beta Launch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• Deploy unified Renter Agent &amp; Copilot.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• Compete in Create AI Agents Championship.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• Validate with 1,000 Dubai tenants.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• Achieve 100% evaluation harness reliability.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91640"/>
            <a:ext cx="25603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D4ED8"/>
                </a:solidFill>
              </a:defRPr>
            </a:pPr>
            <a:r>
              <a:t>PHASE 2 (Q1 2027)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Mobile App &amp; Contract OCR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• iOS and Android native apps.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• Ejari PDF scan &amp; WhatsApp bot alert engine.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• Building star rating automated enrichment.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• Formal trade license setup in Dubai.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91640"/>
            <a:ext cx="25603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D4ED8"/>
                </a:solidFill>
              </a:defRPr>
            </a:pPr>
            <a:r>
              <a:t>PHASE 3 (Q2 2027)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RDC Escrow Integration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• Automated 'Offer &amp; Deposit' digital petition generation for Rental Dispute Center.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• Verified digital cheque tracking.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• Launch B2B corporate employee benefit pilot.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691640"/>
            <a:ext cx="25603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D4ED8"/>
                </a:solidFill>
              </a:defRPr>
            </a:pPr>
            <a:r>
              <a:t>PHASE 4 (2028+)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GCC Regional Expansion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• Abu Dhabi ADREC rental index module.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• Saudi Arabia Ejar contract evaluation (Riyadh &amp; Jeddah).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• Commercial retail lease defense tier.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C"/>
          </a:solidFill>
          <a:ln>
            <a:solidFill>
              <a:srgbClr val="0B1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8A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731520"/>
            <a:ext cx="4114800" cy="365760"/>
          </a:xfrm>
          <a:prstGeom prst="roundRect">
            <a:avLst/>
          </a:prstGeom>
          <a:solidFill>
            <a:srgbClr val="192D5A"/>
          </a:solidFill>
          <a:ln>
            <a:solidFill>
              <a:srgbClr val="C8A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8A24A"/>
                </a:solidFill>
              </a:defRPr>
            </a:pPr>
            <a:r>
              <a:t>BUILT IN DUBAI • READY FOR THE 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Empowering Every Dubai Renter with Agentic AI</a:t>
            </a:r>
          </a:p>
          <a:p>
            <a:pPr>
              <a:spcBef>
                <a:spcPts val="600"/>
              </a:spcBef>
              <a:defRPr sz="1600">
                <a:solidFill>
                  <a:srgbClr val="C8A24A"/>
                </a:solidFill>
              </a:defRPr>
            </a:pPr>
            <a:r>
              <a:t>How the AED 550,000 Category Grant will be deployed in Dubai: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017520"/>
            <a:ext cx="3154680" cy="2011680"/>
          </a:xfrm>
          <a:prstGeom prst="roundRect">
            <a:avLst/>
          </a:prstGeom>
          <a:solidFill>
            <a:srgbClr val="11244C"/>
          </a:solidFill>
          <a:ln>
            <a:solidFill>
              <a:srgbClr val="284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C8A24A"/>
                </a:solidFill>
              </a:defRPr>
            </a:pPr>
            <a:r>
              <a:t>DUBAI CORPORATE ENTITY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Incorporate Dubai Chamber-licensed company &amp; set up local operations in the Dubai Digital Economy hub.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3017520"/>
            <a:ext cx="3154680" cy="2011680"/>
          </a:xfrm>
          <a:prstGeom prst="roundRect">
            <a:avLst/>
          </a:prstGeom>
          <a:solidFill>
            <a:srgbClr val="11244C"/>
          </a:solidFill>
          <a:ln>
            <a:solidFill>
              <a:srgbClr val="284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C8A24A"/>
                </a:solidFill>
              </a:defRPr>
            </a:pPr>
            <a:r>
              <a:t>MOBILE &amp; OCR ENGINEERING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Hire local AI engineers to build the WhatsApp bot, Ejari PDF OCR ingestion, and mobile apps.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017520"/>
            <a:ext cx="3154680" cy="2011680"/>
          </a:xfrm>
          <a:prstGeom prst="roundRect">
            <a:avLst/>
          </a:prstGeom>
          <a:solidFill>
            <a:srgbClr val="11244C"/>
          </a:solidFill>
          <a:ln>
            <a:solidFill>
              <a:srgbClr val="284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C8A24A"/>
                </a:solidFill>
              </a:defRPr>
            </a:pPr>
            <a:r>
              <a:t>COMMUNITY RENTER DEFENSE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Launch grassroots legal literacy campaign protecting 50,000+ Dubai expat households from unlawful rent increases.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5303520"/>
            <a:ext cx="9921240" cy="1005840"/>
          </a:xfrm>
          <a:prstGeom prst="roundRect">
            <a:avLst/>
          </a:prstGeom>
          <a:solidFill>
            <a:srgbClr val="192D5A"/>
          </a:solidFill>
          <a:ln>
            <a:solidFill>
              <a:srgbClr val="C8A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LIVE PROTOYPE: dubai-property-decision-engine.vercel.app/renewal-agent</a:t>
            </a:r>
          </a:p>
          <a:p>
            <a:pPr algn="ctr">
              <a:spcBef>
                <a:spcPts val="200"/>
              </a:spcBef>
              <a:defRPr sz="1050">
                <a:solidFill>
                  <a:srgbClr val="C8A24A"/>
                </a:solidFill>
              </a:defRPr>
            </a:pPr>
            <a:r>
              <a:t>GitHub: github.com/sarusarvesh993-cyber/dubai-property-decision-engine  •  Contact: sarusarvesh993@gmail.com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